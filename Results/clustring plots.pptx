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7ADC6-B596-4F77-AC3B-310BC2412882}" v="27" dt="2026-03-15T09:53:36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Reddy" userId="a921e0834bf257f2" providerId="LiveId" clId="{4C1CFD39-F3A1-47FC-B448-30C8C2D8EA75}"/>
    <pc:docChg chg="undo redo custSel addSld delSld modSld">
      <pc:chgData name="Revanth Reddy" userId="a921e0834bf257f2" providerId="LiveId" clId="{4C1CFD39-F3A1-47FC-B448-30C8C2D8EA75}" dt="2026-03-15T09:57:25.526" v="1582"/>
      <pc:docMkLst>
        <pc:docMk/>
      </pc:docMkLst>
      <pc:sldChg chg="del">
        <pc:chgData name="Revanth Reddy" userId="a921e0834bf257f2" providerId="LiveId" clId="{4C1CFD39-F3A1-47FC-B448-30C8C2D8EA75}" dt="2026-03-15T08:36:57.127" v="321" actId="2696"/>
        <pc:sldMkLst>
          <pc:docMk/>
          <pc:sldMk cId="323308441" sldId="257"/>
        </pc:sldMkLst>
      </pc:sldChg>
      <pc:sldChg chg="addSp delSp modSp new del mod chgLayout">
        <pc:chgData name="Revanth Reddy" userId="a921e0834bf257f2" providerId="LiveId" clId="{4C1CFD39-F3A1-47FC-B448-30C8C2D8EA75}" dt="2026-03-15T09:08:51.714" v="478" actId="2696"/>
        <pc:sldMkLst>
          <pc:docMk/>
          <pc:sldMk cId="920752383" sldId="258"/>
        </pc:sldMkLst>
        <pc:spChg chg="del">
          <ac:chgData name="Revanth Reddy" userId="a921e0834bf257f2" providerId="LiveId" clId="{4C1CFD39-F3A1-47FC-B448-30C8C2D8EA75}" dt="2026-03-15T08:20:36.838" v="4" actId="700"/>
          <ac:spMkLst>
            <pc:docMk/>
            <pc:sldMk cId="920752383" sldId="258"/>
            <ac:spMk id="2" creationId="{0CC7D777-CA43-F9B0-25CE-EC3818FD572E}"/>
          </ac:spMkLst>
        </pc:spChg>
        <pc:spChg chg="del">
          <ac:chgData name="Revanth Reddy" userId="a921e0834bf257f2" providerId="LiveId" clId="{4C1CFD39-F3A1-47FC-B448-30C8C2D8EA75}" dt="2026-03-15T08:19:55.657" v="1" actId="931"/>
          <ac:spMkLst>
            <pc:docMk/>
            <pc:sldMk cId="920752383" sldId="258"/>
            <ac:spMk id="3" creationId="{C752A0EB-89FE-DA08-B3A5-5202A27926BE}"/>
          </ac:spMkLst>
        </pc:spChg>
        <pc:spChg chg="add mod ord">
          <ac:chgData name="Revanth Reddy" userId="a921e0834bf257f2" providerId="LiveId" clId="{4C1CFD39-F3A1-47FC-B448-30C8C2D8EA75}" dt="2026-03-15T08:35:06.169" v="320" actId="12"/>
          <ac:spMkLst>
            <pc:docMk/>
            <pc:sldMk cId="920752383" sldId="258"/>
            <ac:spMk id="6" creationId="{88C3F228-8194-1C3D-8D27-0A427EF08C92}"/>
          </ac:spMkLst>
        </pc:spChg>
        <pc:picChg chg="add mod ord">
          <ac:chgData name="Revanth Reddy" userId="a921e0834bf257f2" providerId="LiveId" clId="{4C1CFD39-F3A1-47FC-B448-30C8C2D8EA75}" dt="2026-03-15T08:25:44.526" v="34" actId="14100"/>
          <ac:picMkLst>
            <pc:docMk/>
            <pc:sldMk cId="920752383" sldId="258"/>
            <ac:picMk id="5" creationId="{C3323780-98CA-F82B-6928-887A88E6AD7C}"/>
          </ac:picMkLst>
        </pc:picChg>
      </pc:sldChg>
      <pc:sldChg chg="addSp delSp modSp new mod">
        <pc:chgData name="Revanth Reddy" userId="a921e0834bf257f2" providerId="LiveId" clId="{4C1CFD39-F3A1-47FC-B448-30C8C2D8EA75}" dt="2026-03-15T09:08:11.540" v="477" actId="14100"/>
        <pc:sldMkLst>
          <pc:docMk/>
          <pc:sldMk cId="804378980" sldId="259"/>
        </pc:sldMkLst>
        <pc:spChg chg="mod">
          <ac:chgData name="Revanth Reddy" userId="a921e0834bf257f2" providerId="LiveId" clId="{4C1CFD39-F3A1-47FC-B448-30C8C2D8EA75}" dt="2026-03-15T09:08:11.540" v="477" actId="14100"/>
          <ac:spMkLst>
            <pc:docMk/>
            <pc:sldMk cId="804378980" sldId="259"/>
            <ac:spMk id="2" creationId="{26CC26C8-E118-9E78-E267-4B584FDDACC1}"/>
          </ac:spMkLst>
        </pc:spChg>
        <pc:spChg chg="del">
          <ac:chgData name="Revanth Reddy" userId="a921e0834bf257f2" providerId="LiveId" clId="{4C1CFD39-F3A1-47FC-B448-30C8C2D8EA75}" dt="2026-03-15T08:37:48.746" v="323" actId="931"/>
          <ac:spMkLst>
            <pc:docMk/>
            <pc:sldMk cId="804378980" sldId="259"/>
            <ac:spMk id="3" creationId="{7AC95027-AB0E-98D5-00A7-EC3A9E1C4C6D}"/>
          </ac:spMkLst>
        </pc:spChg>
        <pc:picChg chg="add mod ord">
          <ac:chgData name="Revanth Reddy" userId="a921e0834bf257f2" providerId="LiveId" clId="{4C1CFD39-F3A1-47FC-B448-30C8C2D8EA75}" dt="2026-03-15T08:59:09.979" v="327" actId="14100"/>
          <ac:picMkLst>
            <pc:docMk/>
            <pc:sldMk cId="804378980" sldId="259"/>
            <ac:picMk id="5" creationId="{E3776DD9-9244-0C38-693B-64C142F72815}"/>
          </ac:picMkLst>
        </pc:picChg>
      </pc:sldChg>
      <pc:sldChg chg="addSp delSp modSp new mod">
        <pc:chgData name="Revanth Reddy" userId="a921e0834bf257f2" providerId="LiveId" clId="{4C1CFD39-F3A1-47FC-B448-30C8C2D8EA75}" dt="2026-03-15T09:57:25.526" v="1582"/>
        <pc:sldMkLst>
          <pc:docMk/>
          <pc:sldMk cId="2471429073" sldId="260"/>
        </pc:sldMkLst>
        <pc:spChg chg="mod">
          <ac:chgData name="Revanth Reddy" userId="a921e0834bf257f2" providerId="LiveId" clId="{4C1CFD39-F3A1-47FC-B448-30C8C2D8EA75}" dt="2026-03-15T09:57:10.480" v="1580" actId="14100"/>
          <ac:spMkLst>
            <pc:docMk/>
            <pc:sldMk cId="2471429073" sldId="260"/>
            <ac:spMk id="2" creationId="{57B16888-91B5-6965-5A48-73EAF73B51D8}"/>
          </ac:spMkLst>
        </pc:spChg>
        <pc:spChg chg="del">
          <ac:chgData name="Revanth Reddy" userId="a921e0834bf257f2" providerId="LiveId" clId="{4C1CFD39-F3A1-47FC-B448-30C8C2D8EA75}" dt="2026-03-15T09:37:16.033" v="480" actId="931"/>
          <ac:spMkLst>
            <pc:docMk/>
            <pc:sldMk cId="2471429073" sldId="260"/>
            <ac:spMk id="3" creationId="{643435D0-7DF3-A049-2329-CFF6FA3DDE37}"/>
          </ac:spMkLst>
        </pc:spChg>
        <pc:spChg chg="add del mod">
          <ac:chgData name="Revanth Reddy" userId="a921e0834bf257f2" providerId="LiveId" clId="{4C1CFD39-F3A1-47FC-B448-30C8C2D8EA75}" dt="2026-03-15T09:47:36.240" v="876"/>
          <ac:spMkLst>
            <pc:docMk/>
            <pc:sldMk cId="2471429073" sldId="260"/>
            <ac:spMk id="6" creationId="{E470C8D5-DBEB-26F8-1AE0-CC2DEE71FD1A}"/>
          </ac:spMkLst>
        </pc:spChg>
        <pc:spChg chg="add del mod">
          <ac:chgData name="Revanth Reddy" userId="a921e0834bf257f2" providerId="LiveId" clId="{4C1CFD39-F3A1-47FC-B448-30C8C2D8EA75}" dt="2026-03-15T09:57:25.526" v="1582"/>
          <ac:spMkLst>
            <pc:docMk/>
            <pc:sldMk cId="2471429073" sldId="260"/>
            <ac:spMk id="7" creationId="{63B7A221-40CC-0E25-3A57-4011A91C798A}"/>
          </ac:spMkLst>
        </pc:spChg>
        <pc:picChg chg="add mod ord">
          <ac:chgData name="Revanth Reddy" userId="a921e0834bf257f2" providerId="LiveId" clId="{4C1CFD39-F3A1-47FC-B448-30C8C2D8EA75}" dt="2026-03-15T09:37:44.520" v="484" actId="1076"/>
          <ac:picMkLst>
            <pc:docMk/>
            <pc:sldMk cId="2471429073" sldId="260"/>
            <ac:picMk id="5" creationId="{0C73B4B7-A642-3B1E-9C71-BECC8715BF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CA60A-902F-4D34-82E9-46BAB2F0EDD0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C55BF-65E6-4F4A-94C9-BBC601E4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5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F72A-850E-2246-EB65-5CB39BF80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64240-28A3-0E05-691C-0996073C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6957B-C5AF-E7B4-D308-620A5E8A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09BC-BBD6-61A1-8851-38CBB6D7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963CD-A22C-4691-0E0A-0B2ED2A7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03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508F-3EF1-8D0E-2262-53A66CCD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F6BA-58D5-05B5-49F4-DFB7200D2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1644-183B-758E-0133-E786CF1F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35356-308F-053F-304F-773CFC0C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80BAC-2FA8-F3F1-D785-03E78C66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84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CB5C-ED89-6ABF-8285-6169200A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59A6-78AC-B5B2-FC19-033791D39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69287-FE30-3B9D-60D1-875CB482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5EDF6-6F61-346B-2CDB-7BF0A37F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B9644-07F4-CA95-51AE-4B5E5FB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7925-BA67-268F-74FA-171853D14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88BA-9764-9D11-5F83-528DA216F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39AEC-E30E-E0C9-6CEA-142488603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A5EB6-1782-B772-045C-5369CBE4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94DBD-CC1A-B390-9624-3F7FA0E3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C6EA6-C565-77F6-2B82-F215B391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0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A617-C635-48EC-94EE-28D4F58E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F9DB-8668-5A60-55D5-5B257A2B0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32030-0A39-7236-4CEB-BBF653383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E4C99-9986-DC9B-5ABF-29475633E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D0826-4187-91A7-F9B3-CEBE66B28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99F6E-61F1-3C8D-86F2-07293047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D9DB1E-7B35-1A40-410B-7E4BEDFA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77366-4D96-47C9-4437-16681872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458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C782-570F-7C0A-000E-57DA8D8A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70744-0C89-F8F7-4663-0ADD3600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24A84-30DB-B0A6-8BCF-16553C0F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51577-20C7-12CF-CABA-E33594CD9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3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080C9-6EB1-AB5A-C093-E8139804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89F81-7C8C-0055-B8CC-75D90964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B10A0-DE8C-84DC-A634-3E8EF239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60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67AC-2655-001C-0819-D1767542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FB4A2-BAD4-4ADE-34F3-7AA9B22FF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070BA-CC01-1724-4E2E-45484BD86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23A1C-526A-4C39-937F-56DDE0D5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FDFBB-517F-C5F8-BD32-1F4B4D38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E170C-78F4-56CA-A3EE-EE192EF5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76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E8E2-D55B-3429-B856-68A55FD5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BCE77-3841-03D7-2D45-340D6E713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60A79-F82D-BA4B-999C-5597957CA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A56B3-22D2-D286-A55C-FC128DAB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03F2E-9636-4697-1360-24F550A6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EBA86-6433-6BA0-3FF3-9FD01DF7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6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9C1E-733D-5EB5-C336-7B7F2704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0E138-2296-5F2C-D301-245339CA6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C0B86-9B60-BAFA-77D3-48DB8EA3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6E221-4357-B22B-1AFD-83DA1DCC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286B1-76CC-2418-CDFD-EA281AE5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C92E-9BC0-42F4-3F86-EA004850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161D9-3649-A52B-A3AB-58663BDA7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00FF-826E-8F53-D307-DAC6FDC5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48C98-0639-77AB-8548-9E2C093F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12F3E-12BA-E3DE-B8AE-B2C3E103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87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F49A7-CB6C-3B0C-2394-53121E2A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43E79-4B1D-CD44-9DBB-65CCFA8E1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21A51-EE40-E5A3-BB32-0A072ECF0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A83E7-5504-4A29-8257-CD57C521CC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5634-A3FE-42B2-BD93-E366075B2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9D3B-131A-6549-5F6B-4F93ED687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C19B-6C72-40C4-9D93-889BB59F2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82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26C8-E118-9E78-E267-4B584FDD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192" y="1348736"/>
            <a:ext cx="7132320" cy="41605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Lower WCSS = better clustering</a:t>
            </a:r>
            <a:br>
              <a:rPr lang="en-US" sz="1600" dirty="0"/>
            </a:br>
            <a:r>
              <a:rPr lang="en-US" sz="1600" dirty="0"/>
              <a:t>When clusters increase, WCSS always decreases</a:t>
            </a:r>
            <a:br>
              <a:rPr lang="en-US" sz="1600" dirty="0"/>
            </a:br>
            <a:r>
              <a:rPr lang="en-US" sz="1600" dirty="0"/>
              <a:t>Large drop:-  k=1 → k=2 → k=3</a:t>
            </a:r>
            <a:br>
              <a:rPr lang="en-US" sz="1600" dirty="0"/>
            </a:br>
            <a:r>
              <a:rPr lang="en-US" sz="1600" dirty="0"/>
              <a:t>Small drop:-  k=4 onwards</a:t>
            </a:r>
            <a:br>
              <a:rPr lang="en-US" sz="1600" dirty="0"/>
            </a:br>
            <a:r>
              <a:rPr lang="en-US" sz="1600" b="1" dirty="0"/>
              <a:t>Cluster 1</a:t>
            </a:r>
            <a:br>
              <a:rPr lang="en-US" sz="1600" b="1" dirty="0"/>
            </a:br>
            <a:r>
              <a:rPr lang="en-US" sz="1600" dirty="0"/>
              <a:t>Younger people</a:t>
            </a:r>
            <a:br>
              <a:rPr lang="en-US" sz="1600" dirty="0"/>
            </a:br>
            <a:r>
              <a:rPr lang="en-US" sz="1600" dirty="0"/>
              <a:t>No heart disease</a:t>
            </a:r>
            <a:br>
              <a:rPr lang="en-US" sz="1600" dirty="0"/>
            </a:br>
            <a:r>
              <a:rPr lang="en-US" sz="1600" dirty="0"/>
              <a:t>Low risk</a:t>
            </a:r>
            <a:br>
              <a:rPr lang="en-US" sz="1600" dirty="0"/>
            </a:br>
            <a:r>
              <a:rPr lang="en-US" sz="1600" b="1" dirty="0"/>
              <a:t>Cluster 2</a:t>
            </a:r>
            <a:br>
              <a:rPr lang="en-US" sz="1600" b="1" dirty="0"/>
            </a:br>
            <a:r>
              <a:rPr lang="en-US" sz="1600" dirty="0"/>
              <a:t>Middle-aged patients</a:t>
            </a:r>
            <a:br>
              <a:rPr lang="en-US" sz="1600" dirty="0"/>
            </a:br>
            <a:r>
              <a:rPr lang="en-US" sz="1600" dirty="0"/>
              <a:t>Some heart disease cases</a:t>
            </a:r>
            <a:br>
              <a:rPr lang="en-US" sz="1600" dirty="0"/>
            </a:br>
            <a:r>
              <a:rPr lang="en-US" sz="1600" dirty="0"/>
              <a:t>Moderate risk</a:t>
            </a:r>
            <a:br>
              <a:rPr lang="en-US" sz="1600" dirty="0"/>
            </a:br>
            <a:r>
              <a:rPr lang="en-US" sz="1600" b="1" dirty="0"/>
              <a:t>Cluster 3</a:t>
            </a:r>
            <a:br>
              <a:rPr lang="en-US" sz="1600" b="1" dirty="0"/>
            </a:br>
            <a:r>
              <a:rPr lang="en-US" sz="1600" dirty="0"/>
              <a:t>Older patients</a:t>
            </a:r>
            <a:br>
              <a:rPr lang="en-US" sz="1600" dirty="0"/>
            </a:br>
            <a:r>
              <a:rPr lang="en-US" sz="1600" dirty="0"/>
              <a:t>High heart disease probability</a:t>
            </a:r>
            <a:br>
              <a:rPr lang="en-US" sz="1600" dirty="0"/>
            </a:br>
            <a:r>
              <a:rPr lang="en-US" sz="1600" dirty="0"/>
              <a:t>High risk group</a:t>
            </a:r>
            <a:br>
              <a:rPr lang="en-US" sz="1600" dirty="0"/>
            </a:br>
            <a:r>
              <a:rPr lang="en-US" sz="1600" dirty="0"/>
              <a:t>The WCSS values decrease rapidly until k=3 and then decrease slowly</a:t>
            </a:r>
            <a:br>
              <a:rPr lang="en-US" sz="1600" dirty="0"/>
            </a:br>
            <a:r>
              <a:rPr lang="en-US" sz="1600" dirty="0"/>
              <a:t>This indicates the optimal </a:t>
            </a:r>
            <a:r>
              <a:rPr lang="en-US" sz="1600" dirty="0" err="1"/>
              <a:t>No.of</a:t>
            </a:r>
            <a:r>
              <a:rPr lang="en-US" sz="1600" dirty="0"/>
              <a:t>  clusters =3</a:t>
            </a:r>
            <a:br>
              <a:rPr lang="en-US" sz="1600" dirty="0"/>
            </a:br>
            <a:endParaRPr lang="en-IN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776DD9-9244-0C38-693B-64C142F72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4782312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7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6888-91B5-6965-5A48-73EAF73B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992" y="1170432"/>
            <a:ext cx="5821680" cy="534009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X-axis</a:t>
            </a:r>
            <a:r>
              <a:rPr lang="en-US" sz="1600" dirty="0"/>
              <a:t> → Age</a:t>
            </a:r>
            <a:br>
              <a:rPr lang="en-US" sz="1600" dirty="0"/>
            </a:br>
            <a:r>
              <a:rPr lang="en-US" sz="1600" dirty="0"/>
              <a:t>Y-axis →cholesterol</a:t>
            </a:r>
            <a:br>
              <a:rPr lang="en-US" sz="1600" dirty="0"/>
            </a:br>
            <a:r>
              <a:rPr lang="en-US" sz="1600" dirty="0"/>
              <a:t>Each dot = one patient</a:t>
            </a:r>
            <a:br>
              <a:rPr lang="en-US" sz="1600" dirty="0"/>
            </a:br>
            <a:r>
              <a:rPr lang="en-US" sz="1600" dirty="0"/>
              <a:t>colors represents </a:t>
            </a:r>
            <a:r>
              <a:rPr lang="en-US" sz="1600" dirty="0" err="1"/>
              <a:t>No.of</a:t>
            </a:r>
            <a:r>
              <a:rPr lang="en-US" sz="1600" dirty="0"/>
              <a:t> clusters</a:t>
            </a:r>
            <a:br>
              <a:rPr lang="en-US" sz="1600" dirty="0"/>
            </a:br>
            <a:r>
              <a:rPr lang="en-US" sz="1600" dirty="0"/>
              <a:t>Cluster 0(purple):-</a:t>
            </a:r>
            <a:br>
              <a:rPr lang="en-US" sz="1600" dirty="0"/>
            </a:br>
            <a:r>
              <a:rPr lang="en-US" sz="1600" dirty="0"/>
              <a:t>Age    </a:t>
            </a:r>
            <a:r>
              <a:rPr lang="en-IN" sz="1600" dirty="0"/>
              <a:t>30 – 75</a:t>
            </a:r>
            <a:br>
              <a:rPr lang="en-US" sz="1600" dirty="0"/>
            </a:br>
            <a:r>
              <a:rPr lang="en-US" sz="1600" dirty="0"/>
              <a:t>cholesterol   </a:t>
            </a:r>
            <a:r>
              <a:rPr lang="en-IN" sz="1600" dirty="0"/>
              <a:t>100 – 250</a:t>
            </a:r>
            <a:br>
              <a:rPr lang="en-IN" sz="1600" dirty="0"/>
            </a:br>
            <a:r>
              <a:rPr lang="en-IN" sz="1600" dirty="0"/>
              <a:t>Cluster 1(Yellow):-</a:t>
            </a:r>
            <a:r>
              <a:rPr lang="en-US" sz="1600" dirty="0"/>
              <a:t>      </a:t>
            </a:r>
            <a:br>
              <a:rPr lang="en-US" sz="1600" dirty="0"/>
            </a:br>
            <a:r>
              <a:rPr lang="en-US" sz="1600" dirty="0"/>
              <a:t>cholesterol     </a:t>
            </a:r>
            <a:r>
              <a:rPr lang="en-IN" sz="1600" dirty="0"/>
              <a:t>260 – 420</a:t>
            </a:r>
            <a:br>
              <a:rPr lang="en-IN" sz="1600" dirty="0"/>
            </a:br>
            <a:r>
              <a:rPr lang="en-IN" sz="1600" dirty="0"/>
              <a:t>Cluster 2(Green):-</a:t>
            </a:r>
            <a:br>
              <a:rPr lang="en-IN" sz="1600" dirty="0"/>
            </a:br>
            <a:r>
              <a:rPr lang="en-US" sz="1600" dirty="0"/>
              <a:t>cholesterol    </a:t>
            </a:r>
            <a:r>
              <a:rPr lang="en-IN" sz="1600" dirty="0"/>
              <a:t>430 – 600</a:t>
            </a:r>
            <a:br>
              <a:rPr lang="en-IN" sz="1600" dirty="0"/>
            </a:br>
            <a:r>
              <a:rPr lang="en-IN" sz="1600" dirty="0"/>
              <a:t>Cluster                                            Meaning</a:t>
            </a:r>
            <a:br>
              <a:rPr lang="en-IN" sz="1600" dirty="0"/>
            </a:br>
            <a:r>
              <a:rPr lang="en-IN" sz="1600" dirty="0"/>
              <a:t>Cluster 0                                        Low risk patient</a:t>
            </a:r>
            <a:br>
              <a:rPr lang="en-IN" sz="1600" dirty="0"/>
            </a:br>
            <a:r>
              <a:rPr lang="en-IN" sz="1600" dirty="0"/>
              <a:t>Cluster 1                                         medium risk</a:t>
            </a:r>
            <a:br>
              <a:rPr lang="en-IN" sz="1600" dirty="0"/>
            </a:br>
            <a:r>
              <a:rPr lang="en-IN" sz="1600" dirty="0"/>
              <a:t>Cluster 2                                         High risk</a:t>
            </a:r>
            <a:br>
              <a:rPr lang="en-IN" sz="1600" dirty="0"/>
            </a:br>
            <a:r>
              <a:rPr lang="en-IN" sz="1600" dirty="0"/>
              <a:t>Low risk:-</a:t>
            </a:r>
            <a:br>
              <a:rPr lang="en-IN" sz="1600" dirty="0"/>
            </a:br>
            <a:r>
              <a:rPr lang="en-IN" sz="1600" dirty="0"/>
              <a:t>Health cholesterol</a:t>
            </a:r>
            <a:br>
              <a:rPr lang="en-IN" sz="1600" dirty="0"/>
            </a:br>
            <a:r>
              <a:rPr lang="en-IN" sz="1600" dirty="0"/>
              <a:t>Regular monitoring needed</a:t>
            </a:r>
            <a:br>
              <a:rPr lang="en-IN" sz="1600" dirty="0"/>
            </a:br>
            <a:r>
              <a:rPr lang="en-IN" sz="1600" dirty="0"/>
              <a:t>medium risk:-</a:t>
            </a:r>
            <a:br>
              <a:rPr lang="en-IN" sz="1600" dirty="0"/>
            </a:br>
            <a:r>
              <a:rPr lang="en-IN" sz="1600" dirty="0"/>
              <a:t>lifetime changes recommended</a:t>
            </a:r>
            <a:br>
              <a:rPr lang="en-IN" sz="1600" dirty="0"/>
            </a:br>
            <a:r>
              <a:rPr lang="en-IN" sz="1600" dirty="0"/>
              <a:t>High risk:-</a:t>
            </a:r>
            <a:br>
              <a:rPr lang="en-IN" sz="1600" dirty="0"/>
            </a:br>
            <a:r>
              <a:rPr lang="en-IN" sz="1600" dirty="0"/>
              <a:t>Immediate medical attention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IN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73B4B7-A642-3B1E-9C71-BECC8715B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" y="631726"/>
            <a:ext cx="522123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29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Lower WCSS = better clustering When clusters increase, WCSS always decreases Large drop:-  k=1 → k=2 → k=3 Small drop:-  k=4 onwards Cluster 1 Younger people No heart disease Low risk Cluster 2 Middle-aged patients Some heart disease cases Moderate risk Cluster 3 Older patients High heart disease probability High risk group The WCSS values decrease rapidly until k=3 and then decrease slowly This indicates the optimal No.of  clusters =3 </vt:lpstr>
      <vt:lpstr>X-axis → Age Y-axis →cholesterol Each dot = one patient colors represents No.of clusters Cluster 0(purple):- Age    30 – 75 cholesterol   100 – 250 Cluster 1(Yellow):-       cholesterol     260 – 420 Cluster 2(Green):- cholesterol    430 – 600 Cluster                                            Meaning Cluster 0                                        Low risk patient Cluster 1                                         medium risk Cluster 2                                         High risk Low risk:- Health cholesterol Regular monitoring needed medium risk:- lifetime changes recommended High risk:- Immediate medical attention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Revanth Reddy</dc:creator>
  <cp:lastModifiedBy>Revanth Reddy</cp:lastModifiedBy>
  <cp:revision>1</cp:revision>
  <dcterms:created xsi:type="dcterms:W3CDTF">2026-03-15T07:13:17Z</dcterms:created>
  <dcterms:modified xsi:type="dcterms:W3CDTF">2026-03-15T09:57:35Z</dcterms:modified>
</cp:coreProperties>
</file>